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b4966f452f4c07" /><Relationship Type="http://schemas.openxmlformats.org/officeDocument/2006/relationships/extended-properties" Target="/docProps/app.xml" Id="R440e42e439874634" /><Relationship Type="http://schemas.openxmlformats.org/officeDocument/2006/relationships/officeDocument" Target="/ppt/presentation.xml" Id="R4015e1870a98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9083753e354d0f"/>
  </p:sldMasterIdLst>
  <p:notesMasterIdLst>
    <p:notesMasterId xmlns:r="http://schemas.openxmlformats.org/officeDocument/2006/relationships" r:id="Rbd8243b166a3466e"/>
  </p:notesMasterIdLst>
  <p:sldIdLst>
    <p:sldId xmlns:r="http://schemas.openxmlformats.org/officeDocument/2006/relationships" id="256" r:id="R2097e7f72a884b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8ac55f32d4374" /><Relationship Type="http://schemas.openxmlformats.org/officeDocument/2006/relationships/slideMaster" Target="/ppt/slideMasters/slideMaster1.xml" Id="Rdf9083753e354d0f" /><Relationship Type="http://schemas.openxmlformats.org/officeDocument/2006/relationships/notesMaster" Target="/ppt/notesMasters/notesMaster1.xml" Id="Rbd8243b166a3466e" /><Relationship Type="http://schemas.openxmlformats.org/officeDocument/2006/relationships/presProps" Target="/ppt/presProps.xml" Id="R5489775948264ac4" /><Relationship Type="http://schemas.openxmlformats.org/officeDocument/2006/relationships/tableStyles" Target="/ppt/tableStyles.xml" Id="Rf7ca6c7724974c8f" /><Relationship Type="http://schemas.openxmlformats.org/officeDocument/2006/relationships/slide" Target="/ppt/slides/slide1.xml" Id="R2097e7f72a884b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a8c458dd204e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75577f16ec479e" /><Relationship Type="http://schemas.openxmlformats.org/officeDocument/2006/relationships/notesMaster" Target="/ppt/notesMasters/notesMaster1.xml" Id="Ree7cecd27cf54c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93367bbae4a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a4f705ba73474b" /><Relationship Type="http://schemas.openxmlformats.org/officeDocument/2006/relationships/slideLayout" Target="/ppt/slideLayouts/slideLayout1.xml" Id="R66831332a08f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31332a08f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f26eb90d042b0" /><Relationship Type="http://schemas.openxmlformats.org/officeDocument/2006/relationships/notesSlide" Target="/ppt/notesSlides/notesSlide1.xml" Id="R63511379d3ed49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">
            <a:extLst xmlns:a="http://schemas.openxmlformats.org/drawingml/2006/main">
              <a:ext uri="{FF2B5EF4-FFF2-40B4-BE49-F238E27FC236}">
                <a16:creationId xmlns:a16="http://schemas.microsoft.com/office/drawing/2014/main" id="{DB3E7AC1-59FC-458A-B2B2-CEC18D86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DIRECTION 1    /    PROPOSED MECHANISM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E14F59-9E01-4F69-8874-82D0A5B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Environment exploration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EA7DBFA-8548-4AEB-868B-95995CC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47775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Learn a website rule, save it, and use it on the next task.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98FFC43-9980-4121-B510-FE369B82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F"/>
            </a:solidFill>
          </a:ln>
        </p:spPr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7C567FA6-25B9-4313-BDF8-AD00796F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3181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rPr>
              <a:t>1. Explore and check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67CD89AD-1518-4309-923D-F85A94E4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3543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rPr>
              <a:t>2. Save what was learned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0EF1FBE0-ADD8-46E0-87BA-F620D97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76450"/>
            <a:ext cx="313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rPr>
              <a:t>3. Run the next task</a:t>
            </a:r>
          </a:p>
        </p:txBody>
      </p:sp>
      <p:sp>
        <p:nvSpPr>
          <p:cNvPr id="8" name="website">
            <a:extLst xmlns:a="http://schemas.openxmlformats.org/drawingml/2006/main">
              <a:ext uri="{FF2B5EF4-FFF2-40B4-BE49-F238E27FC236}">
                <a16:creationId xmlns:a16="http://schemas.microsoft.com/office/drawing/2014/main" id="{41778A99-CF09-41E4-BBAB-8E51BA5B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30765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7DF"/>
            </a:solidFill>
          </a:ln>
        </p:spPr>
      </p:sp>
      <p:sp>
        <p:nvSpPr>
          <p:cNvPr id="9" name="website-heading">
            <a:extLst xmlns:a="http://schemas.openxmlformats.org/drawingml/2006/main">
              <a:ext uri="{FF2B5EF4-FFF2-40B4-BE49-F238E27FC236}">
                <a16:creationId xmlns:a16="http://schemas.microsoft.com/office/drawing/2014/main" id="{17604896-F4E6-4D5B-96C5-3B52B30D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30765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4"/>
          </a:solidFill>
          <a:ln xmlns:a="http://schemas.openxmlformats.org/drawingml/2006/main" w="14288">
            <a:solidFill>
              <a:srgbClr val="CBD7DF"/>
            </a:solidFill>
          </a:ln>
        </p:spPr>
      </p:sp>
      <p:sp>
        <p:nvSpPr>
          <p:cNvPr id="10" name="website-title">
            <a:extLst xmlns:a="http://schemas.openxmlformats.org/drawingml/2006/main">
              <a:ext uri="{FF2B5EF4-FFF2-40B4-BE49-F238E27FC236}">
                <a16:creationId xmlns:a16="http://schemas.microsoft.com/office/drawing/2014/main" id="{4F13F747-A2C2-4D52-9B40-B5F5675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Example ticket website</a:t>
            </a:r>
          </a:p>
        </p:txBody>
      </p:sp>
      <p:sp>
        <p:nvSpPr>
          <p:cNvPr id="11" name="type-label">
            <a:extLst xmlns:a="http://schemas.openxmlformats.org/drawingml/2006/main">
              <a:ext uri="{FF2B5EF4-FFF2-40B4-BE49-F238E27FC236}">
                <a16:creationId xmlns:a16="http://schemas.microsoft.com/office/drawing/2014/main" id="{B542A0AE-8EC3-4361-8AFF-77868D8F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Type</a:t>
            </a:r>
          </a:p>
        </p:txBody>
      </p:sp>
      <p:sp>
        <p:nvSpPr>
          <p:cNvPr id="12" name="type-value">
            <a:extLst xmlns:a="http://schemas.openxmlformats.org/drawingml/2006/main">
              <a:ext uri="{FF2B5EF4-FFF2-40B4-BE49-F238E27FC236}">
                <a16:creationId xmlns:a16="http://schemas.microsoft.com/office/drawing/2014/main" id="{0F4061EB-DF67-43B3-89DE-9B11141C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7DF"/>
            </a:solidFill>
          </a:ln>
        </p:spPr>
      </p:sp>
      <p:sp>
        <p:nvSpPr>
          <p:cNvPr id="13" name="type-text">
            <a:extLst xmlns:a="http://schemas.openxmlformats.org/drawingml/2006/main">
              <a:ext uri="{FF2B5EF4-FFF2-40B4-BE49-F238E27FC236}">
                <a16:creationId xmlns:a16="http://schemas.microsoft.com/office/drawing/2014/main" id="{4EDD8C25-DB71-4D1D-AE7F-B3B5BCD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766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Bug</a:t>
            </a:r>
          </a:p>
        </p:txBody>
      </p:sp>
      <p:sp>
        <p:nvSpPr>
          <p:cNvPr id="14" name="steps-label">
            <a:extLst xmlns:a="http://schemas.openxmlformats.org/drawingml/2006/main">
              <a:ext uri="{FF2B5EF4-FFF2-40B4-BE49-F238E27FC236}">
                <a16:creationId xmlns:a16="http://schemas.microsoft.com/office/drawing/2014/main" id="{7329E9BB-B32F-4E8B-8A24-1750DBDB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Steps to reproduce</a:t>
            </a:r>
          </a:p>
        </p:txBody>
      </p:sp>
      <p:sp>
        <p:nvSpPr>
          <p:cNvPr id="15" name="steps-value">
            <a:extLst xmlns:a="http://schemas.openxmlformats.org/drawingml/2006/main">
              <a:ext uri="{FF2B5EF4-FFF2-40B4-BE49-F238E27FC236}">
                <a16:creationId xmlns:a16="http://schemas.microsoft.com/office/drawing/2014/main" id="{E859492A-38BA-41AB-9306-68150132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7DF"/>
            </a:solidFill>
          </a:ln>
        </p:spPr>
      </p:sp>
      <p:sp>
        <p:nvSpPr>
          <p:cNvPr id="16" name="validation-message">
            <a:extLst xmlns:a="http://schemas.openxmlformats.org/drawingml/2006/main">
              <a:ext uri="{FF2B5EF4-FFF2-40B4-BE49-F238E27FC236}">
                <a16:creationId xmlns:a16="http://schemas.microsoft.com/office/drawing/2014/main" id="{D5A3C4E0-00DD-4CD7-95E1-5F2078E8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D56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D5616"/>
                </a:solidFill>
                <a:latin typeface="Helvetica Neue"/>
                <a:ea typeface="Helvetica Neue"/>
                <a:cs typeface="Helvetica Neue"/>
              </a:rPr>
              <a:t>This field is required.</a:t>
            </a:r>
          </a:p>
        </p:txBody>
      </p:sp>
      <p:sp>
        <p:nvSpPr>
          <p:cNvPr id="17" name="probe-actions">
            <a:extLst xmlns:a="http://schemas.openxmlformats.org/drawingml/2006/main">
              <a:ext uri="{FF2B5EF4-FFF2-40B4-BE49-F238E27FC236}">
                <a16:creationId xmlns:a16="http://schemas.microsoft.com/office/drawing/2014/main" id="{64FDC00F-7E05-49E8-A952-3635DF7D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3209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Vary inputs and retry.</a:t>
            </a:r>
          </a:p>
          <a:p xmlns:a="http://schemas.openxmlformats.org/drawingml/2006/main">
            <a:pPr>
              <a:def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Verify on fresh examples.</a:t>
            </a:r>
          </a:p>
        </p:txBody>
      </p:sp>
      <p:sp>
        <p:nvSpPr>
          <p:cNvPr id="18" name="exploration-to-file">
            <a:extLst xmlns:a="http://schemas.openxmlformats.org/drawingml/2006/main">
              <a:ext uri="{FF2B5EF4-FFF2-40B4-BE49-F238E27FC236}">
                <a16:creationId xmlns:a16="http://schemas.microsoft.com/office/drawing/2014/main" id="{E8D0DD5D-7847-41BB-B2DB-F478EC90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5A7C"/>
          </a:solidFill>
          <a:ln xmlns:a="http://schemas.openxmlformats.org/drawingml/2006/main" w="0">
            <a:noFill/>
          </a:ln>
        </p:spPr>
      </p:sp>
      <p:sp>
        <p:nvSpPr>
          <p:cNvPr id="19" name="knowledge-file">
            <a:extLst xmlns:a="http://schemas.openxmlformats.org/drawingml/2006/main">
              <a:ext uri="{FF2B5EF4-FFF2-40B4-BE49-F238E27FC236}">
                <a16:creationId xmlns:a16="http://schemas.microsoft.com/office/drawing/2014/main" id="{3CD96097-E030-481E-887D-D994A4E0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4480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4288">
            <a:solidFill>
              <a:srgbClr val="0F5A7C"/>
            </a:solidFill>
          </a:ln>
        </p:spPr>
      </p:sp>
      <p:sp>
        <p:nvSpPr>
          <p:cNvPr id="20" name="filename">
            <a:extLst xmlns:a="http://schemas.openxmlformats.org/drawingml/2006/main">
              <a:ext uri="{FF2B5EF4-FFF2-40B4-BE49-F238E27FC236}">
                <a16:creationId xmlns:a16="http://schemas.microsoft.com/office/drawing/2014/main" id="{FCC88237-1CAF-4CDA-B1C8-22161E99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rPr>
              <a:t>site-guide.md</a:t>
            </a:r>
          </a:p>
        </p:txBody>
      </p:sp>
      <p:sp>
        <p:nvSpPr>
          <p:cNvPr id="21" name="file-divider">
            <a:extLst xmlns:a="http://schemas.openxmlformats.org/drawingml/2006/main">
              <a:ext uri="{FF2B5EF4-FFF2-40B4-BE49-F238E27FC236}">
                <a16:creationId xmlns:a16="http://schemas.microsoft.com/office/drawing/2014/main" id="{5D123327-6E7D-4C75-8D32-B56A8FF8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F"/>
            </a:solidFill>
          </a:ln>
        </p:spPr>
      </p:sp>
      <p:sp>
        <p:nvSpPr>
          <p:cNvPr id="22" name="learned-rule">
            <a:extLst xmlns:a="http://schemas.openxmlformats.org/drawingml/2006/main">
              <a:ext uri="{FF2B5EF4-FFF2-40B4-BE49-F238E27FC236}">
                <a16:creationId xmlns:a16="http://schemas.microsoft.com/office/drawing/2014/main" id="{C1463798-35B4-492E-9190-DFE5007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05200"/>
            <a:ext cx="3000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For a Bug ticket, fill</a:t>
            </a:r>
          </a:p>
          <a:p xmlns:a="http://schemas.openxmlformats.org/drawingml/2006/main">
            <a:pPr>
              <a:defRPr sz="20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“Steps to reproduce”</a:t>
            </a:r>
          </a:p>
          <a:p xmlns:a="http://schemas.openxmlformats.org/drawingml/2006/main">
            <a:pPr>
              <a:defRPr sz="20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before submitting.</a:t>
            </a:r>
          </a:p>
        </p:txBody>
      </p:sp>
      <p:sp>
        <p:nvSpPr>
          <p:cNvPr id="23" name="saved-object">
            <a:extLst xmlns:a="http://schemas.openxmlformats.org/drawingml/2006/main">
              <a:ext uri="{FF2B5EF4-FFF2-40B4-BE49-F238E27FC236}">
                <a16:creationId xmlns:a16="http://schemas.microsoft.com/office/drawing/2014/main" id="{DCAF730F-6B8E-4FCA-9CB9-385E2131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91100"/>
            <a:ext cx="346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Output: a website instruction file.</a:t>
            </a:r>
          </a:p>
          <a:p xmlns:a="http://schemas.openxmlformats.org/drawingml/2006/main">
            <a:pPr>
              <a:def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No model training.</a:t>
            </a:r>
          </a:p>
        </p:txBody>
      </p:sp>
      <p:sp>
        <p:nvSpPr>
          <p:cNvPr id="24" name="file-to-runtime">
            <a:extLst xmlns:a="http://schemas.openxmlformats.org/drawingml/2006/main">
              <a:ext uri="{FF2B5EF4-FFF2-40B4-BE49-F238E27FC236}">
                <a16:creationId xmlns:a16="http://schemas.microsoft.com/office/drawing/2014/main" id="{4CBEF4C4-7B7F-492F-ACB1-059BF4E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24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5A7C"/>
          </a:solidFill>
          <a:ln xmlns:a="http://schemas.openxmlformats.org/drawingml/2006/main" w="0">
            <a:noFill/>
          </a:ln>
        </p:spPr>
      </p:sp>
      <p:sp>
        <p:nvSpPr>
          <p:cNvPr id="25" name="new-input">
            <a:extLst xmlns:a="http://schemas.openxmlformats.org/drawingml/2006/main">
              <a:ext uri="{FF2B5EF4-FFF2-40B4-BE49-F238E27FC236}">
                <a16:creationId xmlns:a16="http://schemas.microsoft.com/office/drawing/2014/main" id="{426624A3-DEC5-41A5-A3AA-3AF98A2E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43200"/>
            <a:ext cx="3133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New Bug ticket:</a:t>
            </a:r>
          </a:p>
          <a:p xmlns:a="http://schemas.openxmlformats.org/drawingml/2006/main">
            <a:pPr>
              <a:defRPr sz="17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different title and steps.</a:t>
            </a:r>
          </a:p>
        </p:txBody>
      </p:sp>
      <p:sp>
        <p:nvSpPr>
          <p:cNvPr id="26" name="same-web-agent">
            <a:extLst xmlns:a="http://schemas.openxmlformats.org/drawingml/2006/main">
              <a:ext uri="{FF2B5EF4-FFF2-40B4-BE49-F238E27FC236}">
                <a16:creationId xmlns:a16="http://schemas.microsoft.com/office/drawing/2014/main" id="{B89135EE-D440-4E51-AC47-215454E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19500"/>
            <a:ext cx="31337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A7C"/>
          </a:solidFill>
          <a:ln xmlns:a="http://schemas.openxmlformats.org/drawingml/2006/main" w="14288">
            <a:solidFill>
              <a:srgbClr val="0F5A7C"/>
            </a:solidFill>
          </a:ln>
        </p:spPr>
      </p:sp>
      <p:sp>
        <p:nvSpPr>
          <p:cNvPr id="27" name="runtime-name">
            <a:extLst xmlns:a="http://schemas.openxmlformats.org/drawingml/2006/main">
              <a:ext uri="{FF2B5EF4-FFF2-40B4-BE49-F238E27FC236}">
                <a16:creationId xmlns:a16="http://schemas.microsoft.com/office/drawing/2014/main" id="{9FA9000D-F2FD-446C-8D48-FED5197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052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Same Web Agent</a:t>
            </a:r>
          </a:p>
        </p:txBody>
      </p:sp>
      <p:sp>
        <p:nvSpPr>
          <p:cNvPr id="28" name="runtime-load">
            <a:extLst xmlns:a="http://schemas.openxmlformats.org/drawingml/2006/main">
              <a:ext uri="{FF2B5EF4-FFF2-40B4-BE49-F238E27FC236}">
                <a16:creationId xmlns:a16="http://schemas.microsoft.com/office/drawing/2014/main" id="{E1668B35-9C76-4C37-B0E9-47D30B8B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957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Notes added to its prompt</a:t>
            </a:r>
          </a:p>
        </p:txBody>
      </p:sp>
      <p:sp>
        <p:nvSpPr>
          <p:cNvPr id="29" name="execution-result">
            <a:extLst xmlns:a="http://schemas.openxmlformats.org/drawingml/2006/main">
              <a:ext uri="{FF2B5EF4-FFF2-40B4-BE49-F238E27FC236}">
                <a16:creationId xmlns:a16="http://schemas.microsoft.com/office/drawing/2014/main" id="{1C470DB6-5052-4AE7-9845-4054FD8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781550"/>
            <a:ext cx="31337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Fills the required fields</a:t>
            </a:r>
          </a:p>
          <a:p xmlns:a="http://schemas.openxmlformats.org/drawingml/2006/main">
            <a:pPr>
              <a:defRPr sz="1950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B2733"/>
                </a:solidFill>
                <a:latin typeface="Helvetica Neue"/>
                <a:ea typeface="Helvetica Neue"/>
                <a:cs typeface="Helvetica Neue"/>
              </a:rPr>
              <a:t>before submitting.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25B3A1B-7EE2-4AE2-8611-58E39102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F"/>
            </a:solidFill>
          </a:ln>
        </p:spPr>
      </p:sp>
      <p:sp>
        <p:nvSpPr>
          <p:cNvPr id="31" name="takeaway">
            <a:extLst xmlns:a="http://schemas.openxmlformats.org/drawingml/2006/main">
              <a:ext uri="{FF2B5EF4-FFF2-40B4-BE49-F238E27FC236}">
                <a16:creationId xmlns:a16="http://schemas.microsoft.com/office/drawing/2014/main" id="{1EB1881F-6344-415F-9161-7AA0786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5A7C"/>
                </a:solidFill>
                <a:latin typeface="Helvetica Neue"/>
                <a:ea typeface="Helvetica Neue"/>
                <a:cs typeface="Helvetica Neue"/>
              </a:rPr>
              <a:t>The saved file changes. The model weights stay fixed.</a:t>
            </a:r>
          </a:p>
        </p:txBody>
      </p:sp>
      <p:sp>
        <p:nvSpPr>
          <p:cNvPr id="32" name="disclosure">
            <a:extLst xmlns:a="http://schemas.openxmlformats.org/drawingml/2006/main">
              <a:ext uri="{FF2B5EF4-FFF2-40B4-BE49-F238E27FC236}">
                <a16:creationId xmlns:a16="http://schemas.microsoft.com/office/drawing/2014/main" id="{DEAE6EE3-8583-4937-9620-CC7AB87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6574"/>
                </a:solidFill>
                <a:latin typeface="Helvetica Neue"/>
                <a:ea typeface="Helvetica Neue"/>
                <a:cs typeface="Helvetica Neue"/>
              </a:rPr>
              <a:t>Illustrative website rule and proposed implementation. Benefits must be measured on held-out tasks.</a:t>
            </a:r>
          </a:p>
        </p:txBody>
      </p:sp>
    </p:spTree>
    <p:extLst>
      <p:ext uri="{BB962C8B-B14F-4D97-AF65-F5344CB8AC3E}">
        <p14:creationId xmlns:p14="http://schemas.microsoft.com/office/powerpoint/2010/main" val="625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2026-10-01T06:36:29.4410000Z</dcterms:created>
  <dcterms:modified xsi:type="dcterms:W3CDTF">2026-10-01T06:36:29.4410000Z</dcterms:modified>
</coreProperties>
</file>